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31750"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C2318"/>
                </a:solidFill>
                <a:latin typeface="Arial"/>
              </a:rPr>
              <a:t>QUESTION + COMMUNITY PLATFORM
</a:t>
            </a:r>
          </a:p>
          <a:p>
            <a:r>
              <a:rPr sz="3800" b="1">
                <a:solidFill>
                  <a:srgbClr val="F4F3EE"/>
                </a:solidFill>
                <a:latin typeface="Arial"/>
              </a:rPr>
              <a:t>퀘스처니티 (Questionity)
</a:t>
            </a:r>
          </a:p>
          <a:p>
            <a:r>
              <a:rPr sz="2200" b="0">
                <a:solidFill>
                  <a:srgbClr val="D2D2D2"/>
                </a:solidFill>
                <a:latin typeface="Arial"/>
              </a:rPr>
              <a:t>사용자 및 운영자 통합 매뉴얼 (User &amp; Admin Guidebook)
</a:t>
            </a:r>
          </a:p>
          <a:p>
            <a:r>
              <a:rPr sz="1300" b="1">
                <a:solidFill>
                  <a:srgbClr val="8C2318"/>
                </a:solidFill>
                <a:latin typeface="Arial"/>
              </a:rPr>
              <a:t>• 플랫폼 특장점: </a:t>
            </a:r>
            <a:r>
              <a:rPr sz="1300" b="0">
                <a:solidFill>
                  <a:srgbClr val="BEBEBE"/>
                </a:solidFill>
                <a:latin typeface="Arial"/>
              </a:rPr>
              <a:t>에이스 호텔 에디토리얼 디자인, 300권 도서 큐레이션, Streamlit AI 자동화 &amp; Supabase 인프라
</a:t>
            </a:r>
          </a:p>
          <a:p>
            <a:r>
              <a:rPr sz="1300" b="1">
                <a:solidFill>
                  <a:srgbClr val="8C2318"/>
                </a:solidFill>
                <a:latin typeface="Arial"/>
              </a:rPr>
              <a:t>• 대상: </a:t>
            </a:r>
            <a:r>
              <a:rPr sz="1300" b="0">
                <a:solidFill>
                  <a:srgbClr val="BEBEBE"/>
                </a:solidFill>
                <a:latin typeface="Arial"/>
              </a:rPr>
              <a:t>일반 모임 참여 사용자 &amp; 독서클럽 운영 관리자 (Admin)
</a:t>
            </a:r>
          </a:p>
          <a:p>
            <a:r>
              <a:rPr sz="1200" b="1">
                <a:solidFill>
                  <a:srgbClr val="8C2318"/>
                </a:solidFill>
                <a:latin typeface="Arial"/>
              </a:rPr>
              <a:t>• 최종 수정일: </a:t>
            </a:r>
            <a:r>
              <a:rPr sz="1200" b="0">
                <a:solidFill>
                  <a:srgbClr val="F4F3EE"/>
                </a:solidFill>
                <a:latin typeface="Arial"/>
              </a:rPr>
              <a:t>2026년 8월 20일   |   </a:t>
            </a:r>
            <a:r>
              <a:rPr sz="1200" b="1">
                <a:solidFill>
                  <a:srgbClr val="8C2318"/>
                </a:solidFill>
                <a:latin typeface="Arial"/>
              </a:rPr>
              <a:t>• 배포 버전: </a:t>
            </a:r>
            <a:r>
              <a:rPr sz="1200" b="0">
                <a:solidFill>
                  <a:srgbClr val="F4F3EE"/>
                </a:solidFill>
                <a:latin typeface="Arial"/>
              </a:rPr>
              <a:t>v2.0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목차 (Table of 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01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브랜드 비전 &amp; 에이스 호텔 디자인 시스템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혜화 창경궁로 독서 아지트 포지셔닝 및 브루탈리즘 에디토리얼 UI 컨셉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55448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02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사용자 매뉴얼 - 상단 헤더 &amp; 모집중 독서모임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에이스 상단 SIGN UP 버튼 셀, 모집중 차콜 그레이 100% Full-Bleed 배너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03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사용자 매뉴얼 - 생생 후기 &amp; 다중 후기 모달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Full-Bleed 수동 화살표 포스터 카드, READ MORE 클릭 시 책별 전체 후기 조망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310896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04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사용자 매뉴얼 - 쿠폰 패스 &amp; 오프라인 라운지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2·6·10장 차감 패스 가이드, 혜화 창경궁로 270 길찾기 및 FAQ/1:1 문의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0896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05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운영자 매뉴얼 - Streamlit AI 대시보드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알라딘 TTB 키 연동, Gemini AI 350자+ 리뷰 생성, Supabase 원클릭 출판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3108960"/>
            <a:ext cx="512064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sz="1000" b="1">
                <a:solidFill>
                  <a:srgbClr val="8C2318"/>
                </a:solidFill>
                <a:latin typeface="Arial"/>
              </a:rPr>
              <a:t>SECTION 06
</a:t>
            </a:r>
          </a:p>
          <a:p>
            <a:r>
              <a:rPr sz="1500" b="1">
                <a:solidFill>
                  <a:srgbClr val="1A1A1A"/>
                </a:solidFill>
                <a:latin typeface="Arial"/>
              </a:rPr>
              <a:t>시스템 인프라 &amp; Vercel ENV 설정 가이드</a:t>
            </a:r>
          </a:p>
          <a:p>
            <a:r>
              <a:rPr sz="1100" b="0">
                <a:solidFill>
                  <a:srgbClr val="646464"/>
                </a:solidFill>
                <a:latin typeface="Arial"/>
              </a:rPr>
              <a:t>Vercel 빌드 설정(out), Supabase DB 테이블 구조 및 Vercel 환경변수 (.env)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01. 브랜드 비전 &amp; 에이스 호텔 디자인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에이스 호텔 디자인 시스템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주요 가이드라인: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100% 직사각형 레이아웃 (.rounded-none)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웜 캔버스 (#F4F3EE) &amp; 딥 차콜 (#242422)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에이스 시그니처 브릭 레드 (#8C2318) 포인트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Gmarket Sans / Bebas Neue 타이포그래피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스타트업 포지셔닝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주요 가이드라인: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혜화 창경궁로 270 오프라인 독서 아지트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진정성 있는 초기 스타트업 커뮤니티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1st Season 창립 멤버십 운영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질문 기반의 소그룹 액티브 토론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300권 검증 도서 큐레이션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주요 가이드라인: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알라딘 베스트셀러 50권씩 6개 트랙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인문/사회/철학, 비즈니스/재테크,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  과학/기술, 문학/예술, 자기계발/심리,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  스타트업/디자인 명작 클래식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02. 사용자 매뉴얼 - 상단 헤더 &amp; 모집중인 독서모임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상단 헤더 SIGN UP 셀 UI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위치: 상단 네비게이션 우측 끝 독점 셀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UI: 에이스 호텔 BOOK NOW 100% 동일 색상/UI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브릭 레드(#8C2318) &amp; 호버 시 매트 블랙(#1A1A1A)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비로그인 시 SIGN UP (/signup), 로그인 시 MY PAGE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모집중 독서모임 차콜 배너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모집중인 독서모임 (5 CLUBS RECRUITING)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화면 좌우 100% Full-Bleed 차콜 그레이 (#242422)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모집중 전용 딥 차콜 아우라 카드 렌더링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솔리드 하이콘트라스트 [상세내용] 버튼 제공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진행중/종료 트랙 레이아웃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⚡ 진행중인 독서모임 (CLUBS ACTIVE)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✅ 종료된 독서모임 (CLUBS ARCHIVED)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페이퍼 오프화이트 정갈한 카드로 교차 배치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원형 화살표 휠 이동 지원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03. 사용자 매뉴얼 - 생생 후기 &amp; 다중 후기 스택 모달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Full-Bleed 포스터 카드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검은 테두리와 여백 0% 제거 (Full-Bleed)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aspect-[4/5] 책 표지 100% 꽉 차게 렌더링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외곽선 없는 깔끔한 페이퍼 카드 룩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20개 AI 생생 후기 전량 100% 로딩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수동 원형 화살표 슬라이더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마키(Marquee) 자동 흐름 완전 제거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좌우 플로팅 원형 화살표 버튼 (← / →)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사용자가 원하는 속도로 직접 조작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터치/드래그 스크롤 완벽 지원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다중 후기 스택 모달 팝업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READ MORE (2) 클릭 시 도서별 통합 모달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동일 도서에 대한 모든 멤버 후기 모아보기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작성자 페르소나, 별점, 후기 전문 조망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개별 LIKE (좋아요) 카운터 탑재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04. 사용자 매뉴얼 - 쿠폰 패스 &amp; 오프라인 라운지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멤버십 패스 가이드 (#how-it-works)</a:t>
            </a:r>
          </a:p>
          <a:p>
            <a:r>
              <a:rPr sz="1200" b="1">
                <a:solidFill>
                  <a:srgbClr val="1A1A1A"/>
                </a:solidFill>
                <a:latin typeface="Arial"/>
              </a:rPr>
              <a:t>
사용자 이용 안내:
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3단계 서비스 프로토콜 (탐색 -&gt; 패스 충전 -&gt; 차감)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2장 패스 (기본), 6장 패스 (15% 할인 추천), 10장 패스 (20%)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독서클럽 신청 시 간편하게 [1장씩 차감] 신청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반응형 줄바꿈 (break-keep) 완벽 적용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오프라인 라운지 티켓 (#location)</a:t>
            </a:r>
          </a:p>
          <a:p>
            <a:r>
              <a:rPr sz="1200" b="1">
                <a:solidFill>
                  <a:srgbClr val="1A1A1A"/>
                </a:solidFill>
                <a:latin typeface="Arial"/>
              </a:rPr>
              <a:t>
사용자 이용 안내:
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혜화 독서 아지트: 서울특별시 종로구 창경궁로 270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오프라인 라운지 룸 101 사진 배너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[도로명 주소 복사] &amp; [네이버 지도 길찾기] 원클릭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4가지 아메니티 (Free Coffee, Vinyl Lounge 등)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04. 사용자 매뉴얼 - FAQ &amp; 1:1 문의 접수 (/faq)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FAQ 아코디언 &amp; 실시간 검색</a:t>
            </a:r>
          </a:p>
          <a:p>
            <a:r>
              <a:rPr sz="12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검색바: 질문 및 키워드 입력 시 실시간 필터링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카테고리 탭: [모임신청], [결제/패스], [장소/시설], [환불규정]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아코디언: 클릭 시 깔끔한 에이스 호텔 스타일 답변 토글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0" y="1554480"/>
            <a:ext cx="512064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/>
            <a:r>
              <a:rPr sz="1500" b="1">
                <a:solidFill>
                  <a:srgbClr val="8C2318"/>
                </a:solidFill>
                <a:latin typeface="Arial"/>
              </a:rPr>
              <a:t>1:1 문의하기 폼 (Form Submission)</a:t>
            </a:r>
          </a:p>
          <a:p>
            <a:r>
              <a:rPr sz="1200" b="1">
                <a:solidFill>
                  <a:srgbClr val="1A1A1A"/>
                </a:solidFill>
                <a:latin typeface="Arial"/>
              </a:rPr>
              <a:t>
기능 사양:
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수집 데이터: 성함, 이메일, 연락처, 문의 유형, 제목, 내용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유효성 검사: 필수 입력란 미작성 시 실시간 피드백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접수 결과: Supabase `inquiries` 데이터베이스에 즉시 저장</a:t>
            </a:r>
          </a:p>
          <a:p>
            <a:r>
              <a:rPr sz="1200" b="0">
                <a:solidFill>
                  <a:srgbClr val="1A1A1A"/>
                </a:solidFill>
                <a:latin typeface="Arial"/>
              </a:rPr>
              <a:t>• 상태값: `pending` (접수 완료) 상태로 자동 세팅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05. 운영자 매뉴얼 - Streamlit AI 자동화 대시보드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1단계: 알라딘 Open API 도서 연동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운영 절차: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`streamlit_admin.py` 관리자 대시보드 실행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알라딘 TTB 키 연동으로 책 제목 검색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책 표지 이미지 URL, 저자, 알라딘 URL 자동 추출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2단계: Gemini AI 리뷰어 생성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운영 절차: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Google Gemini API `SINGLE_ROOM_SCHEMA` 호동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350자+ 3단락 체계적 참여자 생생 후기 자동 생성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리뷰어 직업/페르소나 및 별점, 좋아요 자동 매핑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3단계: Supabase DB 원클릭 출판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운영 절차: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[Supabase 출판하기] 클릭 시 즉시 DB 전송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`rooms` 테이블 (모임 정보) 생성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`reviews` 테이블 (AI 리뷰 4개) 상호 외래키 매핑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05. 운영자 매뉴얼 - Supabase 데이터베이스 테이블 관리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rooms 테이블 (독서모임)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테이블 스키마 구조: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status: recruiting(모집중), in_progress(진행중), completed(종료)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title, book_title, book_author, book_image_url, aladin_url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schedule_text, price_text, leader_name, leader_bio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reviews 테이블 (생생 후기)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테이블 스키마 구조: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room_id: rooms 테이블 외래키 매핑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author_name, author_role, rating, content, like_count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is_ai_generated: true (AI 생성 여부 플래그)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inquiries 테이블 (1:1 문의)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테이블 스키마 구조: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name, email, phone, inquiry_type, subject, content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status: pending(접수대기) -&gt; replied(답변완료)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created_at: 문의 접수 타임스탬프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06. 시스템 인프라 &amp; Vercel 배포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Vercel 프로덕션 빌드 설정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인프라 아키텍처: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Framework Preset: Vite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Build Command: npm run build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Output Directory: out (vercel.json에 세팅)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Rewrites: React Router SPA 라우팅 지원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알라딘 이미지 CDN 차단 방지 Proxy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인프라 아키텍처: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Serverless Function: api/book-cover.js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알라딘 커버 이미지 요청 시 referrerPolicy 해결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엑박 방지 및 24시간 HTTP 캐싱 헤더 주입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0" y="1554480"/>
            <a:ext cx="3429000" cy="4754880"/>
          </a:xfrm>
          <a:prstGeom prst="rect">
            <a:avLst/>
          </a:prstGeom>
          <a:solidFill>
            <a:srgbClr val="FFFFFF"/>
          </a:solidFill>
          <a:ln>
            <a:solidFill>
              <a:srgbClr val="C8C3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400" b="1">
                <a:solidFill>
                  <a:srgbClr val="8C2318"/>
                </a:solidFill>
                <a:latin typeface="Arial"/>
              </a:rPr>
              <a:t>Supabase RLS &amp; 보안 권한</a:t>
            </a:r>
          </a:p>
          <a:p>
            <a:r>
              <a:rPr sz="1100" b="1">
                <a:solidFill>
                  <a:srgbClr val="1A1A1A"/>
                </a:solidFill>
                <a:latin typeface="Arial"/>
              </a:rPr>
              <a:t>
인프라 아키텍처: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Read Access: anon(비로그인) 누구나 rooms/reviews 조회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Write Access: inquiries 테이블 INSERT 허용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• service_role 키는 클라이언트에 절대 노출 안 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8C2318"/>
                </a:solidFill>
                <a:latin typeface="Arial"/>
              </a:rPr>
              <a:t>QUESTIONITY MANUAL</a:t>
            </a:r>
          </a:p>
          <a:p>
            <a:r>
              <a:rPr sz="2200" b="1">
                <a:solidFill>
                  <a:srgbClr val="1A1A1A"/>
                </a:solidFill>
                <a:latin typeface="Arial"/>
              </a:rPr>
              <a:t>06. Vercel 환경 변수 (.env) 셋팅 가이드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2773375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3EE"/>
                          </a:solidFill>
                          <a:latin typeface="Arial"/>
                        </a:rPr>
                        <a:t>환경변수 Key (Vercel ENV)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3EE"/>
                          </a:solidFill>
                          <a:latin typeface="Arial"/>
                        </a:rPr>
                        <a:t>설정 값 (Value)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4F3EE"/>
                          </a:solidFill>
                          <a:latin typeface="Arial"/>
                        </a:rPr>
                        <a:t>설명 및 사용처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VITE_SUPABASE_URL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https://fewzfqkqmdfbfqdtxmvf.supabase.co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Supabase 백엔드 데이터베이스 API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VITE_SUPABASE_ANON_KEY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eyJhbGciOiJIUzI1NiIsInR5cCI6IkpXVCJ9...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Supabase Public Anon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VITE_ALADIN_TTB_KEY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ttbjwl17220625001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알라딘 300권 Open API TTB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4754880"/>
            <a:ext cx="10728655" cy="1554480"/>
          </a:xfrm>
          <a:prstGeom prst="rect">
            <a:avLst/>
          </a:prstGeom>
          <a:solidFill>
            <a:srgbClr val="FDF8F5"/>
          </a:solidFill>
          <a:ln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/>
            <a:r>
              <a:rPr sz="1300" b="1">
                <a:solidFill>
                  <a:srgbClr val="8C2318"/>
                </a:solidFill>
                <a:latin typeface="Arial"/>
              </a:rPr>
              <a:t>⚠️ Vercel 배포 시 필독 주의사항 (Security &amp; Redeploy Checklist)
</a:t>
            </a:r>
          </a:p>
          <a:p>
            <a:r>
              <a:rPr sz="1100" b="0">
                <a:solidFill>
                  <a:srgbClr val="1A1A1A"/>
                </a:solidFill>
                <a:latin typeface="Arial"/>
              </a:rPr>
              <a:t>1. Vercel Dashboard [Project Settings] -&gt; [Environment Variables]에 위 3개 변수를 등록하세요.
2. VITE_ 접두사 변수가 추가/수정된 후에는 반드시 [Redeploy]를 진행해야 빌드 파일에 올바르게 적용됩니다.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31750">
            <a:solidFill>
              <a:srgbClr val="8C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C2318"/>
                </a:solidFill>
                <a:latin typeface="Arial"/>
              </a:rPr>
              <a:t>QUESTIONS &amp; SUPPORT
</a:t>
            </a:r>
          </a:p>
          <a:p>
            <a:r>
              <a:rPr sz="3400" b="1">
                <a:solidFill>
                  <a:srgbClr val="F4F3EE"/>
                </a:solidFill>
                <a:latin typeface="Arial"/>
              </a:rPr>
              <a:t>Q &amp; A 및 운영 문의 안내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PM / 서비스 총괄: </a:t>
            </a:r>
            <a:r>
              <a:rPr sz="1400" b="0">
                <a:solidFill>
                  <a:srgbClr val="F4F3EE"/>
                </a:solidFill>
                <a:latin typeface="Arial"/>
              </a:rPr>
              <a:t>이재우 (Jaewoo Lee)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GitHub Repository: </a:t>
            </a:r>
            <a:r>
              <a:rPr sz="1400" b="0">
                <a:solidFill>
                  <a:srgbClr val="F4F3EE"/>
                </a:solidFill>
                <a:latin typeface="Arial"/>
              </a:rPr>
              <a:t>https://github.com/JaewooLee-AI/questionity_main_v2.git
</a:t>
            </a:r>
          </a:p>
          <a:p>
            <a:r>
              <a:rPr sz="1400" b="1">
                <a:solidFill>
                  <a:srgbClr val="8C2318"/>
                </a:solidFill>
                <a:latin typeface="Arial"/>
              </a:rPr>
              <a:t>• 고객 문의 / 지원: </a:t>
            </a:r>
            <a:r>
              <a:rPr sz="1400" b="0">
                <a:solidFill>
                  <a:srgbClr val="F4F3EE"/>
                </a:solidFill>
                <a:latin typeface="Arial"/>
              </a:rPr>
              <a:t>support@questionity.kr / jwlee@project.com
</a:t>
            </a:r>
          </a:p>
          <a:p>
            <a:r>
              <a:rPr sz="1800" b="1">
                <a:solidFill>
                  <a:srgbClr val="8C2318"/>
                </a:solidFill>
                <a:latin typeface="Arial"/>
              </a:rPr>
              <a:t>Thank you for using Questionity!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