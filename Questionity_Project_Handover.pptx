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31750"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C2318"/>
                </a:solidFill>
                <a:latin typeface="Arial"/>
              </a:rPr>
              <a:t>QUESTION + COMMUNITY PLATFORM
</a:t>
            </a:r>
          </a:p>
          <a:p>
            <a:r>
              <a:rPr sz="3800" b="1">
                <a:solidFill>
                  <a:srgbClr val="FFFFFF"/>
                </a:solidFill>
                <a:latin typeface="Arial"/>
              </a:rPr>
              <a:t>퀘스처니티 (Questionity)
</a:t>
            </a:r>
          </a:p>
          <a:p>
            <a:r>
              <a:rPr sz="2200" b="0">
                <a:solidFill>
                  <a:srgbClr val="D2D2D2"/>
                </a:solidFill>
                <a:latin typeface="Arial"/>
              </a:rPr>
              <a:t>1차 개발 완료 인수인계서 (Handover Document)
</a:t>
            </a:r>
          </a:p>
          <a:p>
            <a:r>
              <a:rPr sz="1300" b="1">
                <a:solidFill>
                  <a:srgbClr val="8C2318"/>
                </a:solidFill>
                <a:latin typeface="Arial"/>
              </a:rPr>
              <a:t>• 문서 목적: </a:t>
            </a:r>
            <a:r>
              <a:rPr sz="1300" b="0">
                <a:solidFill>
                  <a:srgbClr val="BEBEBE"/>
                </a:solidFill>
                <a:latin typeface="Arial"/>
              </a:rPr>
              <a:t>퀘스처니티 시스템 IA, DB 환경변수, Vercel 배포 및 관리자/사용자 운영 매뉴얼
</a:t>
            </a:r>
          </a:p>
          <a:p>
            <a:r>
              <a:rPr sz="1200" b="1">
                <a:solidFill>
                  <a:srgbClr val="8C2318"/>
                </a:solidFill>
                <a:latin typeface="Arial"/>
              </a:rPr>
              <a:t>• 작성일자: </a:t>
            </a:r>
            <a:r>
              <a:rPr sz="1200" b="0">
                <a:solidFill>
                  <a:srgbClr val="FFFFFF"/>
                </a:solidFill>
                <a:latin typeface="Arial"/>
              </a:rPr>
              <a:t>2026년 8월 14일   |   </a:t>
            </a:r>
            <a:r>
              <a:rPr sz="1200" b="1">
                <a:solidFill>
                  <a:srgbClr val="8C2318"/>
                </a:solidFill>
                <a:latin typeface="Arial"/>
              </a:rPr>
              <a:t>• 작성자: </a:t>
            </a:r>
            <a:r>
              <a:rPr sz="1200" b="0">
                <a:solidFill>
                  <a:srgbClr val="FFFFFF"/>
                </a:solidFill>
                <a:latin typeface="Arial"/>
              </a:rPr>
              <a:t>IT 프로젝트 매니저 (PM)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목차 (Table of 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01
</a:t>
            </a:r>
          </a:p>
          <a:p>
            <a:r>
              <a:rPr sz="1600" b="1">
                <a:solidFill>
                  <a:srgbClr val="141414"/>
                </a:solidFill>
                <a:latin typeface="Arial"/>
              </a:rPr>
              <a:t>서비스 정보구조도 (IA)</a:t>
            </a:r>
          </a:p>
          <a:p>
            <a:r>
              <a:rPr sz="1200" b="0">
                <a:solidFill>
                  <a:srgbClr val="5A5A5A"/>
                </a:solidFill>
                <a:latin typeface="Arial"/>
              </a:rPr>
              <a:t>
메인 서비스, 서브 페이지(/faq, /terms) 및 관리자 3계층 트리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55448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02
</a:t>
            </a:r>
          </a:p>
          <a:p>
            <a:r>
              <a:rPr sz="1600" b="1">
                <a:solidFill>
                  <a:srgbClr val="141414"/>
                </a:solidFill>
                <a:latin typeface="Arial"/>
              </a:rPr>
              <a:t>개발 환경 &amp; 시스템 인프라</a:t>
            </a:r>
          </a:p>
          <a:p>
            <a:r>
              <a:rPr sz="1200" b="0">
                <a:solidFill>
                  <a:srgbClr val="5A5A5A"/>
                </a:solidFill>
                <a:latin typeface="Arial"/>
              </a:rPr>
              <a:t>
React 18, Supabase DB, Python Streamlit Admin, Vercel 인프라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03
</a:t>
            </a:r>
          </a:p>
          <a:p>
            <a:r>
              <a:rPr sz="1600" b="1">
                <a:solidFill>
                  <a:srgbClr val="141414"/>
                </a:solidFill>
                <a:latin typeface="Arial"/>
              </a:rPr>
              <a:t>시스템 환경 변수 (.env) 가이드</a:t>
            </a:r>
          </a:p>
          <a:p>
            <a:r>
              <a:rPr sz="1200" b="0">
                <a:solidFill>
                  <a:srgbClr val="5A5A5A"/>
                </a:solidFill>
                <a:latin typeface="Arial"/>
              </a:rPr>
              <a:t>
Supabase API Key, 알라딘 TTB Key, Vercel 환경 변수 및 배포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93192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04
</a:t>
            </a:r>
          </a:p>
          <a:p>
            <a:r>
              <a:rPr sz="1600" b="1">
                <a:solidFill>
                  <a:srgbClr val="141414"/>
                </a:solidFill>
                <a:latin typeface="Arial"/>
              </a:rPr>
              <a:t>관리자 &amp; 사용자 운영 매뉴얼</a:t>
            </a:r>
          </a:p>
          <a:p>
            <a:r>
              <a:rPr sz="1200" b="0">
                <a:solidFill>
                  <a:srgbClr val="5A5A5A"/>
                </a:solidFill>
                <a:latin typeface="Arial"/>
              </a:rPr>
              <a:t>
Streamlit AI 리뷰 파이프라인, 알라딘 도서 연동, 1:1 문의 접수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01. 서비스 정보구조도 (IA) - 메인 서비스 (Home)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5603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Depth 2: 히어로 (Hero)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Depth 3 기능 목록: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브랜드 비전 (Question + Community)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독서모임 둘러보기 / 결제방법 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554480"/>
            <a:ext cx="25603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Depth 2: 추천 독서모임 (Clubs)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Depth 3 기능 목록: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모집중 / 진행중 / 종료 탭 필터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📚 알라딘 바로가기 / 상세 모달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554480"/>
            <a:ext cx="25603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Depth 2: 이렇게 시작해요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Depth 3 기능 목록: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3단계 쿠폰 결제 흐름도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2개 / 6개 / 10개 패키지 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1554480"/>
            <a:ext cx="25603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Depth 2: 오시는 길 (Location)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Depth 3 기능 목록: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창경궁로 270 (혜화역 4번 출구)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네이버 지도 길찾기 / 주소 복사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01. 서비스 정보구조도 (IA) - 서브 페이지 &amp; 관리자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FAQ / 문의하기 (/faq)</a:t>
            </a:r>
          </a:p>
          <a:p>
            <a:r>
              <a:rPr sz="1200" b="1">
                <a:solidFill>
                  <a:srgbClr val="141414"/>
                </a:solidFill>
                <a:latin typeface="Arial"/>
              </a:rPr>
              <a:t>
세부 구성 요소:
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실시간 질문 검색바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카테고리 탭 (모임/결제/장소/환불)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Q&amp;A 아코디언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1:1 문의 폼 (inquiries DB 접수)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이용약관 및 정책 (/terms, /privacy)</a:t>
            </a:r>
          </a:p>
          <a:p>
            <a:r>
              <a:rPr sz="1200" b="1">
                <a:solidFill>
                  <a:srgbClr val="141414"/>
                </a:solidFill>
                <a:latin typeface="Arial"/>
              </a:rPr>
              <a:t>
세부 구성 요소:
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이용약관 (환불 규정 100% 명시)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개인정보처리방침 (수집/보유/파기)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개인정보 보호책임자 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관리자 파이프라인 (Admin Streamlit)</a:t>
            </a:r>
          </a:p>
          <a:p>
            <a:r>
              <a:rPr sz="1200" b="1">
                <a:solidFill>
                  <a:srgbClr val="141414"/>
                </a:solidFill>
                <a:latin typeface="Arial"/>
              </a:rPr>
              <a:t>
세부 구성 요소:
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도서 검색 &amp; 알라딘 TTB 키 연동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Gemini AI 350자+ 리뷰 4개 자동 생성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Supabase rooms/reviews DB 원클릭 게시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02. 개발 환경 및 시스템 인프라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프론트엔드 (Frontend)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주요 항목: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Core: React 18, TypeScript, Vite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Styling: TailwindCSS (Ace Hotel 디자인)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Theme: #F6F5F1 웜캔버스, #111111 매트블랙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Layout: 100% 직사각형(rounded-none)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백엔드 &amp; DB (Backend &amp; DB)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주요 항목: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Database: Supabase PostgreSQL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Main Tables: rooms, reviews, inquiries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Auth &amp; Realtime: Supabase JS Client (v2)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Security: Row Level Security (RLS)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배포 &amp; 인프라 (Infra &amp; Pipeline)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주요 항목: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Web Hosting: Vercel Production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SPA Rewrites: vercel.json (outDir: out)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Serverless API: api/book-cover.js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Admin Pipeline: Streamlit + Gemini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03. 시스템 환경 변수 (.env) 설정 가이드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2773375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환경변수 Key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설명 및 설정 값 예시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비고 / 사용처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VITE_SUPABASE_URL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https://fewzfqkqmdfbfqdtxmvf.supabase.co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Supabase 프로젝트 접속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VITE_SUPABASE_ANON_KEY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eyJhbGciOiJIUzI1NiIsInR5cCI6IkpXVCJ9...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Supabase Public Anon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VITE_ALADIN_TTB_KEY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ttbjwl17220625001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414"/>
                          </a:solidFill>
                          <a:latin typeface="Arial"/>
                        </a:rPr>
                        <a:t>알라딘 Open API TTB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754880"/>
            <a:ext cx="10728655" cy="1554480"/>
          </a:xfrm>
          <a:prstGeom prst="rect">
            <a:avLst/>
          </a:prstGeom>
          <a:solidFill>
            <a:srgbClr val="FDF8F5"/>
          </a:solidFill>
          <a:ln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⚠️ Vercel 배포 및 보안 주의사항 (Security Checklist)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1. Vercel Dashboard [Project Settings] -&gt; [Environment Variables]에 위 3가지 변수를 반드시 등록해야 합니다.
2. VITE_ 접두사가 포함된 변수는 클라이언트에 공개되므로, Supabase service_role 키는 절대 등록하지 마십시오.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04. 관리자(Admin) 매뉴얼 - 독서방 생성 &amp; AI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1단계: 독서방 기획 정보 입력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세부 절차: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Streamlit 대시보드 접속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모임 제목, 책 제목, 저자, 모임 일시 입력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알라딘 TTB 키로 도서 URL 자동 수집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2단계: Gemini AI 리뷰 자동 생성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세부 절차: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Gemini API SINGLE_ROOM_SCHEMA 작동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350자+ 3단락 체계적 참여자 생생 후기 작성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리뷰어 페르소나 및 좋아요 수 자동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3단계: Supabase DB 원클릭 게시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세부 절차: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[Supabase 출판하기] 버튼 클릭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rooms 테이블 및 reviews 테이블 상호 매핑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메인 웹 서비스 추천 독서모임 즉시 노출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04. 관리자(Admin) 매뉴얼 - 고객 문의 &amp; 데이터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고객 1:1 문의 관리 (inquiries 테이블)</a:t>
            </a:r>
          </a:p>
          <a:p>
            <a:r>
              <a:rPr sz="1200" b="1">
                <a:solidFill>
                  <a:srgbClr val="141414"/>
                </a:solidFill>
                <a:latin typeface="Arial"/>
              </a:rPr>
              <a:t>
운용 규칙:
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접수 경로: 웹사이트 /faq#contact 폼 제출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수집 데이터: 성함, 이메일, 연락처, 문의유형, 제목, 내용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상태 관리: pending(접수대기) -&gt; replied(답변완료)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알라딘 도서 이미지 CDN 차단 관리</a:t>
            </a:r>
          </a:p>
          <a:p>
            <a:r>
              <a:rPr sz="1200" b="1">
                <a:solidFill>
                  <a:srgbClr val="141414"/>
                </a:solidFill>
                <a:latin typeface="Arial"/>
              </a:rPr>
              <a:t>
운용 규칙:
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Vercel Serverless Function: api/book-cover.js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referrerPolicy='no-referrer' 설정으로 이미지 엑박 방지</a:t>
            </a:r>
          </a:p>
          <a:p>
            <a:r>
              <a:rPr sz="1200" b="0">
                <a:solidFill>
                  <a:srgbClr val="141414"/>
                </a:solidFill>
                <a:latin typeface="Arial"/>
              </a:rPr>
              <a:t>• 실시간 캐싱(Cache-Control 24h) 적용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04. 사용자(User) 매뉴얼 - 독서방 탐색 &amp; 알라딘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1. 독서모임 탐색 및 필터링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사용자 흐름: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메인 화면 #clubs 이동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모집중 / 진행중 / 종료 탭 필터 제공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모임 카드 직사각형 서식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2. 알라딘 도서 바로가기 (📚 알라딘 ↗)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사용자 흐름: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카드 및 상세 모달에서 바로가기 버튼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정제된 책 제목 기반 구매 페이지 이동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도서 정보 상세 확인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3. 독서모임 상세 모달 팝업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사용자 흐름: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카드 클릭 시 모임 소개 &amp; 도서 팝업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클럽장 프로필 및 이력 확인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AI 생성 참여자 실전 후기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HANDOVER</a:t>
            </a:r>
          </a:p>
          <a:p>
            <a:r>
              <a:rPr sz="2200" b="1">
                <a:solidFill>
                  <a:srgbClr val="141414"/>
                </a:solidFill>
                <a:latin typeface="Arial"/>
              </a:rPr>
              <a:t>04. 사용자(User) 매뉴얼 - 쿠폰 결제, 오프라인 아지트 &amp; FAQ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쿠폰 결제 안내 (#how-it-works)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서비스 기능: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2개(5%), 6개(15% 추천), 10개(20% 할인)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계좌이체, 카드등록, NPay, KakaoPay 지원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독서방 결제 시 [쿠폰 1장 차감] 신청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오프라인 아지트 안내 (#location)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서비스 기능: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주소: 서울특별시 종로구 창경궁로 270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위치: 4호선 혜화역 4번 출구 (도보 3분)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기능: [도로명 주소 복사] &amp; [네이버 지도 길찾기]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BEB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FAQ &amp; 1:1 문의 접수 (/faq)</a:t>
            </a:r>
          </a:p>
          <a:p>
            <a:r>
              <a:rPr sz="1100" b="1">
                <a:solidFill>
                  <a:srgbClr val="141414"/>
                </a:solidFill>
                <a:latin typeface="Arial"/>
              </a:rPr>
              <a:t>
서비스 기능:
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실시간 질문/답변 키워드 검색바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4개 카테고리 탭 및 아코디언 Q&amp;A</a:t>
            </a:r>
          </a:p>
          <a:p>
            <a:r>
              <a:rPr sz="1100" b="0">
                <a:solidFill>
                  <a:srgbClr val="141414"/>
                </a:solidFill>
                <a:latin typeface="Arial"/>
              </a:rPr>
              <a:t>• 1:1 문의 제출 시 Supabase DB 자동 접수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31750"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C2318"/>
                </a:solidFill>
                <a:latin typeface="Arial"/>
              </a:rPr>
              <a:t>QUESTIONS &amp; ANSWERS
</a:t>
            </a:r>
          </a:p>
          <a:p>
            <a:r>
              <a:rPr sz="3400" b="1">
                <a:solidFill>
                  <a:srgbClr val="FFFFFF"/>
                </a:solidFill>
                <a:latin typeface="Arial"/>
              </a:rPr>
              <a:t>Q &amp; A 및 인수인계 담당자 연락처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PM / Tech Lead: </a:t>
            </a:r>
            <a:r>
              <a:rPr sz="1400" b="0">
                <a:solidFill>
                  <a:srgbClr val="FFFFFF"/>
                </a:solidFill>
                <a:latin typeface="Arial"/>
              </a:rPr>
              <a:t>이재우 (Jaewoo Lee)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GitHub Repository: </a:t>
            </a:r>
            <a:r>
              <a:rPr sz="1400" b="0">
                <a:solidFill>
                  <a:srgbClr val="FFFFFF"/>
                </a:solidFill>
                <a:latin typeface="Arial"/>
              </a:rPr>
              <a:t>https://github.com/JaewooLee-AI/questionity_main.git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Support Email: </a:t>
            </a:r>
            <a:r>
              <a:rPr sz="1400" b="0">
                <a:solidFill>
                  <a:srgbClr val="FFFFFF"/>
                </a:solidFill>
                <a:latin typeface="Arial"/>
              </a:rPr>
              <a:t>support@questionity.kr / jwlee@project.com
</a:t>
            </a:r>
          </a:p>
          <a:p>
            <a:r>
              <a:rPr sz="1800" b="1">
                <a:solidFill>
                  <a:srgbClr val="8C2318"/>
                </a:solidFill>
                <a:latin typeface="Arial"/>
              </a:rPr>
              <a:t>Thank you for your partnership!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